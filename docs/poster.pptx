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4E4797-2DDA-41B2-9188-04CC6978CEDE}" v="2568" dt="2025-11-25T22:41:59.831"/>
    <p1510:client id="{ECBDD699-58FB-4164-AC91-021214B6BB65}" v="393" dt="2025-11-25T20:56:44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45" indent="0" algn="ctr">
              <a:buNone/>
              <a:defRPr sz="1500"/>
            </a:lvl2pPr>
            <a:lvl3pPr marL="685690" indent="0" algn="ctr">
              <a:buNone/>
              <a:defRPr sz="1350"/>
            </a:lvl3pPr>
            <a:lvl4pPr marL="1028535" indent="0" algn="ctr">
              <a:buNone/>
              <a:defRPr sz="1200"/>
            </a:lvl4pPr>
            <a:lvl5pPr marL="1371381" indent="0" algn="ctr">
              <a:buNone/>
              <a:defRPr sz="1200"/>
            </a:lvl5pPr>
            <a:lvl6pPr marL="1714226" indent="0" algn="ctr">
              <a:buNone/>
              <a:defRPr sz="1200"/>
            </a:lvl6pPr>
            <a:lvl7pPr marL="2057071" indent="0" algn="ctr">
              <a:buNone/>
              <a:defRPr sz="1200"/>
            </a:lvl7pPr>
            <a:lvl8pPr marL="2399916" indent="0" algn="ctr">
              <a:buNone/>
              <a:defRPr sz="1200"/>
            </a:lvl8pPr>
            <a:lvl9pPr marL="274276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845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69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53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381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226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071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399916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2761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45" indent="0">
              <a:buNone/>
              <a:defRPr sz="1500" b="1"/>
            </a:lvl2pPr>
            <a:lvl3pPr marL="685690" indent="0">
              <a:buNone/>
              <a:defRPr sz="1350" b="1"/>
            </a:lvl3pPr>
            <a:lvl4pPr marL="1028535" indent="0">
              <a:buNone/>
              <a:defRPr sz="1200" b="1"/>
            </a:lvl4pPr>
            <a:lvl5pPr marL="1371381" indent="0">
              <a:buNone/>
              <a:defRPr sz="1200" b="1"/>
            </a:lvl5pPr>
            <a:lvl6pPr marL="1714226" indent="0">
              <a:buNone/>
              <a:defRPr sz="1200" b="1"/>
            </a:lvl6pPr>
            <a:lvl7pPr marL="2057071" indent="0">
              <a:buNone/>
              <a:defRPr sz="1200" b="1"/>
            </a:lvl7pPr>
            <a:lvl8pPr marL="2399916" indent="0">
              <a:buNone/>
              <a:defRPr sz="1200" b="1"/>
            </a:lvl8pPr>
            <a:lvl9pPr marL="2742761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45" indent="0">
              <a:buNone/>
              <a:defRPr sz="1500" b="1"/>
            </a:lvl2pPr>
            <a:lvl3pPr marL="685690" indent="0">
              <a:buNone/>
              <a:defRPr sz="1350" b="1"/>
            </a:lvl3pPr>
            <a:lvl4pPr marL="1028535" indent="0">
              <a:buNone/>
              <a:defRPr sz="1200" b="1"/>
            </a:lvl4pPr>
            <a:lvl5pPr marL="1371381" indent="0">
              <a:buNone/>
              <a:defRPr sz="1200" b="1"/>
            </a:lvl5pPr>
            <a:lvl6pPr marL="1714226" indent="0">
              <a:buNone/>
              <a:defRPr sz="1200" b="1"/>
            </a:lvl6pPr>
            <a:lvl7pPr marL="2057071" indent="0">
              <a:buNone/>
              <a:defRPr sz="1200" b="1"/>
            </a:lvl7pPr>
            <a:lvl8pPr marL="2399916" indent="0">
              <a:buNone/>
              <a:defRPr sz="1200" b="1"/>
            </a:lvl8pPr>
            <a:lvl9pPr marL="2742761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45" indent="0">
              <a:buNone/>
              <a:defRPr sz="1050"/>
            </a:lvl2pPr>
            <a:lvl3pPr marL="685690" indent="0">
              <a:buNone/>
              <a:defRPr sz="900"/>
            </a:lvl3pPr>
            <a:lvl4pPr marL="1028535" indent="0">
              <a:buNone/>
              <a:defRPr sz="750"/>
            </a:lvl4pPr>
            <a:lvl5pPr marL="1371381" indent="0">
              <a:buNone/>
              <a:defRPr sz="750"/>
            </a:lvl5pPr>
            <a:lvl6pPr marL="1714226" indent="0">
              <a:buNone/>
              <a:defRPr sz="750"/>
            </a:lvl6pPr>
            <a:lvl7pPr marL="2057071" indent="0">
              <a:buNone/>
              <a:defRPr sz="750"/>
            </a:lvl7pPr>
            <a:lvl8pPr marL="2399916" indent="0">
              <a:buNone/>
              <a:defRPr sz="750"/>
            </a:lvl8pPr>
            <a:lvl9pPr marL="2742761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45" indent="0">
              <a:buNone/>
              <a:defRPr sz="2100"/>
            </a:lvl2pPr>
            <a:lvl3pPr marL="685690" indent="0">
              <a:buNone/>
              <a:defRPr sz="1800"/>
            </a:lvl3pPr>
            <a:lvl4pPr marL="1028535" indent="0">
              <a:buNone/>
              <a:defRPr sz="1500"/>
            </a:lvl4pPr>
            <a:lvl5pPr marL="1371381" indent="0">
              <a:buNone/>
              <a:defRPr sz="1500"/>
            </a:lvl5pPr>
            <a:lvl6pPr marL="1714226" indent="0">
              <a:buNone/>
              <a:defRPr sz="1500"/>
            </a:lvl6pPr>
            <a:lvl7pPr marL="2057071" indent="0">
              <a:buNone/>
              <a:defRPr sz="1500"/>
            </a:lvl7pPr>
            <a:lvl8pPr marL="2399916" indent="0">
              <a:buNone/>
              <a:defRPr sz="1500"/>
            </a:lvl8pPr>
            <a:lvl9pPr marL="2742761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45" indent="0">
              <a:buNone/>
              <a:defRPr sz="1050"/>
            </a:lvl2pPr>
            <a:lvl3pPr marL="685690" indent="0">
              <a:buNone/>
              <a:defRPr sz="900"/>
            </a:lvl3pPr>
            <a:lvl4pPr marL="1028535" indent="0">
              <a:buNone/>
              <a:defRPr sz="750"/>
            </a:lvl4pPr>
            <a:lvl5pPr marL="1371381" indent="0">
              <a:buNone/>
              <a:defRPr sz="750"/>
            </a:lvl5pPr>
            <a:lvl6pPr marL="1714226" indent="0">
              <a:buNone/>
              <a:defRPr sz="750"/>
            </a:lvl6pPr>
            <a:lvl7pPr marL="2057071" indent="0">
              <a:buNone/>
              <a:defRPr sz="750"/>
            </a:lvl7pPr>
            <a:lvl8pPr marL="2399916" indent="0">
              <a:buNone/>
              <a:defRPr sz="750"/>
            </a:lvl8pPr>
            <a:lvl9pPr marL="2742761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5DC05F-6EDE-14E4-BB12-AE5163F8741B}"/>
              </a:ext>
            </a:extLst>
          </p:cNvPr>
          <p:cNvSpPr/>
          <p:nvPr/>
        </p:nvSpPr>
        <p:spPr>
          <a:xfrm>
            <a:off x="2578094" y="-2483"/>
            <a:ext cx="3998278" cy="686086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050" tIns="9525" rIns="19050" bIns="9525" rtlCol="0" anchor="ctr"/>
          <a:lstStyle>
            <a:defPPr>
              <a:defRPr lang="en-US"/>
            </a:defPPr>
            <a:lvl1pPr marL="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5235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047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0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093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617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140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66643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1878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>
              <a:solidFill>
                <a:srgbClr val="FFFFFF"/>
              </a:solidFill>
              <a:latin typeface="Source Sans Pro"/>
              <a:ea typeface="Source Sans Pr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9A896-0763-8B88-B999-A9FA0C25B3A7}"/>
              </a:ext>
            </a:extLst>
          </p:cNvPr>
          <p:cNvSpPr txBox="1"/>
          <p:nvPr/>
        </p:nvSpPr>
        <p:spPr>
          <a:xfrm>
            <a:off x="18385" y="23315"/>
            <a:ext cx="2573165" cy="219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5235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047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0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093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617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140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66643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1878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1" u="sng" dirty="0">
                <a:latin typeface="Source Sans Pro"/>
                <a:ea typeface="Source Sans Pro"/>
                <a:cs typeface="Arial"/>
              </a:rPr>
              <a:t>AI Converts Recipes to Gluten-Free</a:t>
            </a:r>
            <a:endParaRPr lang="en-US" sz="1300" u="sng" dirty="0">
              <a:latin typeface="Source Sans Pro"/>
              <a:ea typeface="Source Sans Pr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557690-5DDA-2DCB-E799-88596F7101C6}"/>
              </a:ext>
            </a:extLst>
          </p:cNvPr>
          <p:cNvSpPr txBox="1"/>
          <p:nvPr/>
        </p:nvSpPr>
        <p:spPr>
          <a:xfrm>
            <a:off x="43132" y="337550"/>
            <a:ext cx="1222075" cy="769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5235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047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0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093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617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140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66643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1878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00">
              <a:latin typeface="Source Sans Pro"/>
              <a:ea typeface="Source Sans Pr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2A7AAE-A51D-6829-C114-0EAB3F6E4BAB}"/>
              </a:ext>
            </a:extLst>
          </p:cNvPr>
          <p:cNvSpPr txBox="1"/>
          <p:nvPr/>
        </p:nvSpPr>
        <p:spPr>
          <a:xfrm>
            <a:off x="26081" y="216169"/>
            <a:ext cx="2300377" cy="1885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5235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047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0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093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617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140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66643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1878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latin typeface="Source Sans Pro"/>
                <a:ea typeface="Source Sans Pro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F9D272-CED2-9093-5876-658C16D60FF7}"/>
              </a:ext>
            </a:extLst>
          </p:cNvPr>
          <p:cNvSpPr txBox="1"/>
          <p:nvPr/>
        </p:nvSpPr>
        <p:spPr>
          <a:xfrm>
            <a:off x="46311" y="347665"/>
            <a:ext cx="2576663" cy="14042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5235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047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0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093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617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140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66643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1878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latin typeface="Source Sans Pro"/>
                <a:ea typeface="Source Sans Pro"/>
                <a:cs typeface="Courier New"/>
              </a:rPr>
              <a:t>Traditional recipe conversion is error-prone. This AI-Guided Model transforms any recipe to be gluten free. It must: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Parse messy ingredient text,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Never miss gluten (recall ≈1.0),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Suggest only gluten-free, culinary-appropriate replacements,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Adjust any quantity changes, and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Keep all instructions consistent.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B40009-D7FB-FE5E-EAD4-69DBFE091951}"/>
              </a:ext>
            </a:extLst>
          </p:cNvPr>
          <p:cNvSpPr txBox="1"/>
          <p:nvPr/>
        </p:nvSpPr>
        <p:spPr>
          <a:xfrm>
            <a:off x="2575361" y="924254"/>
            <a:ext cx="399620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Source Sans Pro"/>
                <a:ea typeface="Source Sans Pro"/>
                <a:cs typeface="Courier New"/>
              </a:rPr>
              <a:t>This prototype transforms any recipe into a </a:t>
            </a:r>
            <a:r>
              <a:rPr lang="en-US" sz="2000" b="1" dirty="0">
                <a:solidFill>
                  <a:srgbClr val="FFFFFF"/>
                </a:solidFill>
                <a:latin typeface="Source Sans Pro"/>
                <a:ea typeface="Source Sans Pro"/>
                <a:cs typeface="Courier New"/>
              </a:rPr>
              <a:t>fully gluten-free</a:t>
            </a:r>
            <a:r>
              <a:rPr lang="en-US" sz="2000" dirty="0">
                <a:solidFill>
                  <a:srgbClr val="FFFFFF"/>
                </a:solidFill>
                <a:latin typeface="Source Sans Pro"/>
                <a:ea typeface="Source Sans Pro"/>
                <a:cs typeface="Courier New"/>
              </a:rPr>
              <a:t> version using </a:t>
            </a:r>
            <a:r>
              <a:rPr lang="en-US" sz="2000" b="1" dirty="0">
                <a:solidFill>
                  <a:srgbClr val="FFFFFF"/>
                </a:solidFill>
                <a:latin typeface="Source Sans Pro"/>
                <a:ea typeface="Source Sans Pro"/>
                <a:cs typeface="Courier New"/>
              </a:rPr>
              <a:t>advanced NLP models</a:t>
            </a:r>
            <a:r>
              <a:rPr lang="en-US" sz="2000" dirty="0">
                <a:solidFill>
                  <a:srgbClr val="FFFFFF"/>
                </a:solidFill>
                <a:latin typeface="Source Sans Pro"/>
                <a:ea typeface="Source Sans Pro"/>
                <a:cs typeface="Courier New"/>
              </a:rPr>
              <a:t>, ingredient classification, semantic substitution, and intelligent rewriting.</a:t>
            </a:r>
            <a:endParaRPr lang="en-US" sz="2000" dirty="0">
              <a:latin typeface="Source Sans Pro"/>
              <a:ea typeface="Source Sans Pro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2E505C-E357-8564-ED23-B2E06399BB56}"/>
              </a:ext>
            </a:extLst>
          </p:cNvPr>
          <p:cNvSpPr txBox="1"/>
          <p:nvPr/>
        </p:nvSpPr>
        <p:spPr>
          <a:xfrm>
            <a:off x="2598035" y="4997372"/>
            <a:ext cx="130483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rgbClr val="FFFFFF"/>
                </a:solidFill>
              </a:rPr>
              <a:t>Figure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97526C-D884-92F4-A9C5-7DBDE14033A9}"/>
              </a:ext>
            </a:extLst>
          </p:cNvPr>
          <p:cNvSpPr txBox="1"/>
          <p:nvPr/>
        </p:nvSpPr>
        <p:spPr>
          <a:xfrm>
            <a:off x="46311" y="1824462"/>
            <a:ext cx="2569221" cy="1558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90470"/>
            <a:r>
              <a:rPr lang="en-US" sz="1000" dirty="0">
                <a:latin typeface="Source Sans Pro"/>
                <a:ea typeface="Source Sans Pro"/>
                <a:cs typeface="Courier New"/>
              </a:rPr>
              <a:t>Key components of this multi-model integration (implemented in Python/</a:t>
            </a:r>
            <a:r>
              <a:rPr lang="en-US" sz="1000" dirty="0" err="1">
                <a:latin typeface="Source Sans Pro"/>
                <a:ea typeface="Source Sans Pro"/>
                <a:cs typeface="Courier New"/>
              </a:rPr>
              <a:t>PyTorch</a:t>
            </a:r>
            <a:r>
              <a:rPr lang="en-US" sz="1000" dirty="0">
                <a:latin typeface="Source Sans Pro"/>
                <a:ea typeface="Source Sans Pro"/>
                <a:cs typeface="Courier New"/>
              </a:rPr>
              <a:t>):</a:t>
            </a:r>
            <a:endParaRPr lang="en-US" dirty="0">
              <a:latin typeface="Aptos" panose="020B0004020202020204"/>
              <a:ea typeface="Source Sans Pro"/>
              <a:cs typeface="Courier New"/>
            </a:endParaRPr>
          </a:p>
          <a:p>
            <a:pPr marL="171450" indent="-171450" defTabSz="190470">
              <a:buFont typeface="Arial" panose="020B0604020202020204" pitchFamily="34" charset="0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Preprocessing &amp; Parsing (Attention-based Ingredient Parser)</a:t>
            </a:r>
          </a:p>
          <a:p>
            <a:pPr marL="171450" indent="-171450" defTabSz="190470">
              <a:buFont typeface="Arial" panose="020B0604020202020204" pitchFamily="34" charset="0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Gluten Classifier (Fine-tuned BERT-based classifier)</a:t>
            </a:r>
          </a:p>
          <a:p>
            <a:pPr marL="171450" indent="-171450" defTabSz="190470">
              <a:buFont typeface="Arial" panose="020B0604020202020204" pitchFamily="34" charset="0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Substitution Engine (BERT semantic embedder guided by </a:t>
            </a:r>
            <a:r>
              <a:rPr lang="en-US" sz="1000" dirty="0" err="1">
                <a:latin typeface="Source Sans Pro"/>
                <a:ea typeface="Source Sans Pro"/>
                <a:cs typeface="Courier New"/>
              </a:rPr>
              <a:t>GISMo</a:t>
            </a:r>
            <a:r>
              <a:rPr lang="en-US" sz="1000" dirty="0">
                <a:latin typeface="Source Sans Pro"/>
                <a:ea typeface="Source Sans Pro"/>
                <a:cs typeface="Courier New"/>
              </a:rPr>
              <a:t> graph)</a:t>
            </a:r>
          </a:p>
          <a:p>
            <a:pPr marL="171450" indent="-171450" defTabSz="190470">
              <a:buFont typeface="Arial" panose="020B0604020202020204" pitchFamily="34" charset="0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Recipe Rewriter (SHARE-inspired model)</a:t>
            </a:r>
          </a:p>
          <a:p>
            <a:pPr marL="171450" indent="-171450" defTabSz="190470">
              <a:buFont typeface="Arial" panose="020B0604020202020204" pitchFamily="34" charset="0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Rule-Based Fallback (Simple heuristics)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C5125E-FA1E-2A22-BB06-E7DB6A392C22}"/>
              </a:ext>
            </a:extLst>
          </p:cNvPr>
          <p:cNvSpPr txBox="1"/>
          <p:nvPr/>
        </p:nvSpPr>
        <p:spPr>
          <a:xfrm>
            <a:off x="26081" y="1703081"/>
            <a:ext cx="2300377" cy="1885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5235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047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0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093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617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140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66643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1878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latin typeface="Source Sans Pro"/>
                <a:ea typeface="Source Sans Pro"/>
              </a:rPr>
              <a:t>System Design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0B01F3-3528-94DD-E900-6BFFF74568F0}"/>
              </a:ext>
            </a:extLst>
          </p:cNvPr>
          <p:cNvSpPr txBox="1"/>
          <p:nvPr/>
        </p:nvSpPr>
        <p:spPr>
          <a:xfrm>
            <a:off x="26081" y="3463100"/>
            <a:ext cx="2569221" cy="34047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defTabSz="19047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The full pipeline (ingredient parsing → classification → gluten detection → semantic substitution → recipe rewriting) functions reliably end-to-end, smoothly handling different recipe text formats.</a:t>
            </a:r>
            <a:endParaRPr lang="en-US" dirty="0">
              <a:latin typeface="Aptos" panose="020B0004020202020204"/>
              <a:ea typeface="Source Sans Pro"/>
              <a:cs typeface="Courier New"/>
            </a:endParaRPr>
          </a:p>
          <a:p>
            <a:pPr marL="171450" indent="-171450" defTabSz="19047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A simple </a:t>
            </a:r>
            <a:r>
              <a:rPr lang="en-US" sz="1000" dirty="0" err="1">
                <a:latin typeface="Source Sans Pro"/>
                <a:ea typeface="Source Sans Pro"/>
                <a:cs typeface="Courier New"/>
              </a:rPr>
              <a:t>Streamlit</a:t>
            </a:r>
            <a:r>
              <a:rPr lang="en-US" sz="1000" dirty="0">
                <a:latin typeface="Source Sans Pro"/>
                <a:ea typeface="Source Sans Pro"/>
                <a:cs typeface="Courier New"/>
              </a:rPr>
              <a:t>-based web UI demonstrates the system. Users input recipe URL or text and then the substituted ingredients with the gluten-free recipe is displayed. (Figure 1)</a:t>
            </a:r>
            <a:endParaRPr lang="en-US" dirty="0">
              <a:latin typeface="Aptos" panose="020B0004020202020204"/>
              <a:ea typeface="Source Sans Pro"/>
              <a:cs typeface="Courier New"/>
            </a:endParaRPr>
          </a:p>
          <a:p>
            <a:pPr marL="171450" indent="-171450" defTabSz="19047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The Top-20 ingredient frequency plots show gluten-dense items drop while gluten-free replacements rise in the post-transformation distribution. (Figures 2 &amp; 3)</a:t>
            </a:r>
            <a:endParaRPr lang="en-US" dirty="0">
              <a:latin typeface="Aptos"/>
              <a:ea typeface="Source Sans Pro"/>
              <a:cs typeface="Courier New"/>
            </a:endParaRPr>
          </a:p>
          <a:p>
            <a:pPr marL="171450" indent="-171450" defTabSz="19047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The confusion matrix reveals strong classification accuracy for common ingredient categories. (Figure 4)</a:t>
            </a:r>
            <a:endParaRPr lang="en-US">
              <a:latin typeface="Aptos"/>
              <a:ea typeface="Source Sans Pro"/>
              <a:cs typeface="Courier New"/>
            </a:endParaRPr>
          </a:p>
          <a:p>
            <a:pPr marL="171450" indent="-171450" defTabSz="19047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Training curves across dataset versions show a decrease in training loss as more labeled ingredient data is added, indicating improved representation learning and model generalization. (Figure 5)</a:t>
            </a:r>
            <a:endParaRPr lang="en-US" dirty="0">
              <a:latin typeface="Aptos"/>
              <a:ea typeface="Source Sans Pro"/>
              <a:cs typeface="Courier New"/>
            </a:endParaRPr>
          </a:p>
        </p:txBody>
      </p:sp>
      <p:pic>
        <p:nvPicPr>
          <p:cNvPr id="34" name="Picture 33" descr="A graph of food ingredients&#10;&#10;AI-generated content may be incorrect.">
            <a:extLst>
              <a:ext uri="{FF2B5EF4-FFF2-40B4-BE49-F238E27FC236}">
                <a16:creationId xmlns:a16="http://schemas.microsoft.com/office/drawing/2014/main" id="{5F27AD0D-FF68-C569-9266-48458FD91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649" y="1713864"/>
            <a:ext cx="2508914" cy="1548787"/>
          </a:xfrm>
          <a:prstGeom prst="rect">
            <a:avLst/>
          </a:prstGeom>
        </p:spPr>
      </p:pic>
      <p:pic>
        <p:nvPicPr>
          <p:cNvPr id="36" name="Picture 35" descr="A graph of a bar graph&#10;&#10;AI-generated content may be incorrect.">
            <a:extLst>
              <a:ext uri="{FF2B5EF4-FFF2-40B4-BE49-F238E27FC236}">
                <a16:creationId xmlns:a16="http://schemas.microsoft.com/office/drawing/2014/main" id="{04A006BF-E05E-EDD4-6014-ABABFE3F3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655" y="104544"/>
            <a:ext cx="2498130" cy="1502218"/>
          </a:xfrm>
          <a:prstGeom prst="rect">
            <a:avLst/>
          </a:prstGeom>
        </p:spPr>
      </p:pic>
      <p:pic>
        <p:nvPicPr>
          <p:cNvPr id="37" name="Picture 36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E61C073C-2C76-2799-71F5-B2724B957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985" y="5277562"/>
            <a:ext cx="2002333" cy="1546477"/>
          </a:xfrm>
          <a:prstGeom prst="rect">
            <a:avLst/>
          </a:prstGeom>
        </p:spPr>
      </p:pic>
      <p:pic>
        <p:nvPicPr>
          <p:cNvPr id="38" name="Picture 37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3335D7A4-2732-5998-7913-A561A9FEED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6531" y="3377100"/>
            <a:ext cx="2011992" cy="1788222"/>
          </a:xfrm>
          <a:prstGeom prst="rect">
            <a:avLst/>
          </a:prstGeom>
        </p:spPr>
      </p:pic>
      <p:pic>
        <p:nvPicPr>
          <p:cNvPr id="39" name="Picture 38" descr="A recipe instructions on a black background&#10;&#10;AI-generated content may be incorrect.">
            <a:extLst>
              <a:ext uri="{FF2B5EF4-FFF2-40B4-BE49-F238E27FC236}">
                <a16:creationId xmlns:a16="http://schemas.microsoft.com/office/drawing/2014/main" id="{8E032C2B-D380-97F2-1590-958A553EE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0026" y="2994742"/>
            <a:ext cx="3863948" cy="19326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EEE73A-3DD7-ECAA-788D-CF57F4FDF3AE}"/>
              </a:ext>
            </a:extLst>
          </p:cNvPr>
          <p:cNvSpPr txBox="1"/>
          <p:nvPr/>
        </p:nvSpPr>
        <p:spPr>
          <a:xfrm>
            <a:off x="6639572" y="-7225"/>
            <a:ext cx="1304839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/>
              <a:t>Figure 2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58EFD4-CBE4-D68C-6866-3A287BDC6A82}"/>
              </a:ext>
            </a:extLst>
          </p:cNvPr>
          <p:cNvSpPr txBox="1"/>
          <p:nvPr/>
        </p:nvSpPr>
        <p:spPr>
          <a:xfrm>
            <a:off x="6639572" y="1615340"/>
            <a:ext cx="1304839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/>
              <a:t>Figure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FD1641-2313-6620-5F9C-E3A8AC1C12BE}"/>
              </a:ext>
            </a:extLst>
          </p:cNvPr>
          <p:cNvSpPr txBox="1"/>
          <p:nvPr/>
        </p:nvSpPr>
        <p:spPr>
          <a:xfrm>
            <a:off x="6638808" y="3370067"/>
            <a:ext cx="1304839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/>
              <a:t>Figure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AFFA10-E565-A7F8-BD52-6ED5CADE65B5}"/>
              </a:ext>
            </a:extLst>
          </p:cNvPr>
          <p:cNvSpPr txBox="1"/>
          <p:nvPr/>
        </p:nvSpPr>
        <p:spPr>
          <a:xfrm>
            <a:off x="6635563" y="5188063"/>
            <a:ext cx="11531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/>
              <a:t>Figure 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6AF0E6-AA4B-6654-93FC-D5D667BCF256}"/>
              </a:ext>
            </a:extLst>
          </p:cNvPr>
          <p:cNvSpPr txBox="1"/>
          <p:nvPr/>
        </p:nvSpPr>
        <p:spPr>
          <a:xfrm>
            <a:off x="26081" y="3331604"/>
            <a:ext cx="2300377" cy="1885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5235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047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0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093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617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140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66643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1878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latin typeface="Source Sans Pro"/>
                <a:ea typeface="Source Sans Pro"/>
              </a:rPr>
              <a:t>Results</a:t>
            </a:r>
          </a:p>
        </p:txBody>
      </p:sp>
      <p:pic>
        <p:nvPicPr>
          <p:cNvPr id="4" name="Picture 3" descr="A qr code on a green background&#10;&#10;AI-generated content may be incorrect.">
            <a:extLst>
              <a:ext uri="{FF2B5EF4-FFF2-40B4-BE49-F238E27FC236}">
                <a16:creationId xmlns:a16="http://schemas.microsoft.com/office/drawing/2014/main" id="{64C6A2BE-45BC-06BD-60B3-B084DFF049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690" y="5742811"/>
            <a:ext cx="956010" cy="11151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642D8E-707A-3B7E-BE96-ABEDDB0127AD}"/>
              </a:ext>
            </a:extLst>
          </p:cNvPr>
          <p:cNvSpPr txBox="1"/>
          <p:nvPr/>
        </p:nvSpPr>
        <p:spPr>
          <a:xfrm>
            <a:off x="4399074" y="6050800"/>
            <a:ext cx="13048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rgbClr val="FFFFFF"/>
                </a:solidFill>
              </a:rPr>
              <a:t>Scan Here for My</a:t>
            </a:r>
          </a:p>
          <a:p>
            <a:r>
              <a:rPr lang="en-US" sz="1000" dirty="0">
                <a:solidFill>
                  <a:srgbClr val="FFFFFF"/>
                </a:solidFill>
              </a:rPr>
              <a:t>Research Paper! -&gt;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A9A4-43DC-55BE-D809-0DDE29591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743ACA8-BAAB-C210-D64E-3476CA197F0A}"/>
              </a:ext>
            </a:extLst>
          </p:cNvPr>
          <p:cNvSpPr/>
          <p:nvPr/>
        </p:nvSpPr>
        <p:spPr>
          <a:xfrm>
            <a:off x="2578094" y="-2483"/>
            <a:ext cx="3998278" cy="686086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050" tIns="9525" rIns="19050" bIns="9525" rtlCol="0" anchor="ctr"/>
          <a:lstStyle>
            <a:defPPr>
              <a:defRPr lang="en-US"/>
            </a:defPPr>
            <a:lvl1pPr marL="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5235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047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0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093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617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140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66643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1878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>
              <a:solidFill>
                <a:srgbClr val="FFFFFF"/>
              </a:solidFill>
              <a:latin typeface="Source Sans Pro"/>
              <a:ea typeface="Source Sans Pr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6F29AD-1778-C8D6-C56E-5792A9CA6748}"/>
              </a:ext>
            </a:extLst>
          </p:cNvPr>
          <p:cNvSpPr txBox="1"/>
          <p:nvPr/>
        </p:nvSpPr>
        <p:spPr>
          <a:xfrm>
            <a:off x="18385" y="23315"/>
            <a:ext cx="2573165" cy="219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5235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047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0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093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617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140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66643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1878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1" u="sng" dirty="0">
                <a:latin typeface="Source Sans Pro"/>
                <a:ea typeface="Source Sans Pro"/>
                <a:cs typeface="Arial"/>
              </a:rPr>
              <a:t>AI Converts Recipes to Gluten-Free</a:t>
            </a:r>
            <a:endParaRPr lang="en-US" sz="1300" u="sng" dirty="0">
              <a:latin typeface="Source Sans Pro"/>
              <a:ea typeface="Source Sans Pr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B84FD1-89EE-7CD4-EA3C-EEA589C6C80F}"/>
              </a:ext>
            </a:extLst>
          </p:cNvPr>
          <p:cNvSpPr txBox="1"/>
          <p:nvPr/>
        </p:nvSpPr>
        <p:spPr>
          <a:xfrm>
            <a:off x="43132" y="337550"/>
            <a:ext cx="1222075" cy="769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5235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047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0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093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617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140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66643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1878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00">
              <a:latin typeface="Source Sans Pro"/>
              <a:ea typeface="Source Sans Pr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2FBA96-8E18-69FA-ADA0-FAAA7A25D679}"/>
              </a:ext>
            </a:extLst>
          </p:cNvPr>
          <p:cNvSpPr txBox="1"/>
          <p:nvPr/>
        </p:nvSpPr>
        <p:spPr>
          <a:xfrm>
            <a:off x="26081" y="216169"/>
            <a:ext cx="2300377" cy="1885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5235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047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0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093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617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140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66643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1878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latin typeface="Source Sans Pro"/>
                <a:ea typeface="Source Sans Pro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46453C-5479-07D0-7338-04F3BF41BEA0}"/>
              </a:ext>
            </a:extLst>
          </p:cNvPr>
          <p:cNvSpPr txBox="1"/>
          <p:nvPr/>
        </p:nvSpPr>
        <p:spPr>
          <a:xfrm>
            <a:off x="46311" y="347665"/>
            <a:ext cx="2576663" cy="14042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5235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047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0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093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617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140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66643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1878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latin typeface="Source Sans Pro"/>
                <a:ea typeface="Source Sans Pro"/>
                <a:cs typeface="Courier New"/>
              </a:rPr>
              <a:t>Traditional recipe conversion is error-prone. This AI-Guided Model transforms any recipe to be gluten free. It must: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Parse messy ingredient text,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Never miss gluten (recall ≈1.0),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Suggest only gluten-free, culinary-appropriate replacements,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Adjust any quantity changes, and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Keep all instructions consistent.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DED904-C51F-E042-ABD9-E403B1FAD97F}"/>
              </a:ext>
            </a:extLst>
          </p:cNvPr>
          <p:cNvSpPr txBox="1"/>
          <p:nvPr/>
        </p:nvSpPr>
        <p:spPr>
          <a:xfrm>
            <a:off x="2575361" y="853449"/>
            <a:ext cx="399620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Source Sans Pro"/>
                <a:ea typeface="Source Sans Pro"/>
                <a:cs typeface="Courier New"/>
              </a:rPr>
              <a:t>This prototype transforms any recipe into a </a:t>
            </a:r>
            <a:r>
              <a:rPr lang="en-US" sz="2000" b="1" dirty="0">
                <a:solidFill>
                  <a:srgbClr val="FFFFFF"/>
                </a:solidFill>
                <a:latin typeface="Source Sans Pro"/>
                <a:ea typeface="Source Sans Pro"/>
                <a:cs typeface="Courier New"/>
              </a:rPr>
              <a:t>fully gluten-free</a:t>
            </a:r>
            <a:r>
              <a:rPr lang="en-US" sz="2000" dirty="0">
                <a:solidFill>
                  <a:srgbClr val="FFFFFF"/>
                </a:solidFill>
                <a:latin typeface="Source Sans Pro"/>
                <a:ea typeface="Source Sans Pro"/>
                <a:cs typeface="Courier New"/>
              </a:rPr>
              <a:t> version using </a:t>
            </a:r>
            <a:r>
              <a:rPr lang="en-US" sz="2000" b="1" dirty="0">
                <a:solidFill>
                  <a:srgbClr val="FFFFFF"/>
                </a:solidFill>
                <a:latin typeface="Source Sans Pro"/>
                <a:ea typeface="Source Sans Pro"/>
                <a:cs typeface="Courier New"/>
              </a:rPr>
              <a:t>advanced NLP models</a:t>
            </a:r>
            <a:r>
              <a:rPr lang="en-US" sz="2000" dirty="0">
                <a:solidFill>
                  <a:srgbClr val="FFFFFF"/>
                </a:solidFill>
                <a:latin typeface="Source Sans Pro"/>
                <a:ea typeface="Source Sans Pro"/>
                <a:cs typeface="Courier New"/>
              </a:rPr>
              <a:t>, ingredient classification, semantic substitution, and intelligent rewriting.</a:t>
            </a:r>
            <a:endParaRPr lang="en-US" sz="2000" dirty="0">
              <a:latin typeface="Source Sans Pro"/>
              <a:ea typeface="Source Sans Pro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DDC029-B447-66CC-41A6-AE0791B0B20A}"/>
              </a:ext>
            </a:extLst>
          </p:cNvPr>
          <p:cNvSpPr txBox="1"/>
          <p:nvPr/>
        </p:nvSpPr>
        <p:spPr>
          <a:xfrm>
            <a:off x="2640025" y="5967875"/>
            <a:ext cx="130483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rgbClr val="FFFFFF"/>
                </a:solidFill>
              </a:rPr>
              <a:t>Figure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9061E2-2D39-B9FA-B344-5B37B40996C0}"/>
              </a:ext>
            </a:extLst>
          </p:cNvPr>
          <p:cNvSpPr txBox="1"/>
          <p:nvPr/>
        </p:nvSpPr>
        <p:spPr>
          <a:xfrm>
            <a:off x="46311" y="1824462"/>
            <a:ext cx="2569221" cy="1558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90470"/>
            <a:r>
              <a:rPr lang="en-US" sz="1000" dirty="0">
                <a:latin typeface="Source Sans Pro"/>
                <a:ea typeface="Source Sans Pro"/>
                <a:cs typeface="Courier New"/>
              </a:rPr>
              <a:t>Key components of this multi-model integration (implemented in Python/</a:t>
            </a:r>
            <a:r>
              <a:rPr lang="en-US" sz="1000" dirty="0" err="1">
                <a:latin typeface="Source Sans Pro"/>
                <a:ea typeface="Source Sans Pro"/>
                <a:cs typeface="Courier New"/>
              </a:rPr>
              <a:t>PyTorch</a:t>
            </a:r>
            <a:r>
              <a:rPr lang="en-US" sz="1000" dirty="0">
                <a:latin typeface="Source Sans Pro"/>
                <a:ea typeface="Source Sans Pro"/>
                <a:cs typeface="Courier New"/>
              </a:rPr>
              <a:t>):</a:t>
            </a:r>
            <a:endParaRPr lang="en-US" dirty="0">
              <a:latin typeface="Aptos" panose="020B0004020202020204"/>
              <a:ea typeface="Source Sans Pro"/>
              <a:cs typeface="Courier New"/>
            </a:endParaRPr>
          </a:p>
          <a:p>
            <a:pPr marL="171450" indent="-171450" defTabSz="190470">
              <a:buFont typeface="Arial" panose="020B0604020202020204" pitchFamily="34" charset="0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Preprocessing &amp; Parsing (Attention-based Ingredient Parser)</a:t>
            </a:r>
          </a:p>
          <a:p>
            <a:pPr marL="171450" indent="-171450" defTabSz="190470">
              <a:buFont typeface="Arial" panose="020B0604020202020204" pitchFamily="34" charset="0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Gluten Classifier (Fine-tuned BERT-based classifier)</a:t>
            </a:r>
          </a:p>
          <a:p>
            <a:pPr marL="171450" indent="-171450" defTabSz="190470">
              <a:buFont typeface="Arial" panose="020B0604020202020204" pitchFamily="34" charset="0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Substitution Engine (BERT semantic embedder guided by </a:t>
            </a:r>
            <a:r>
              <a:rPr lang="en-US" sz="1000" dirty="0" err="1">
                <a:latin typeface="Source Sans Pro"/>
                <a:ea typeface="Source Sans Pro"/>
                <a:cs typeface="Courier New"/>
              </a:rPr>
              <a:t>GISMo</a:t>
            </a:r>
            <a:r>
              <a:rPr lang="en-US" sz="1000" dirty="0">
                <a:latin typeface="Source Sans Pro"/>
                <a:ea typeface="Source Sans Pro"/>
                <a:cs typeface="Courier New"/>
              </a:rPr>
              <a:t> graph)</a:t>
            </a:r>
          </a:p>
          <a:p>
            <a:pPr marL="171450" indent="-171450" defTabSz="190470">
              <a:buFont typeface="Arial" panose="020B0604020202020204" pitchFamily="34" charset="0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Recipe Rewriter (SHARE-inspired model)</a:t>
            </a:r>
          </a:p>
          <a:p>
            <a:pPr marL="171450" indent="-171450" defTabSz="190470">
              <a:buFont typeface="Arial" panose="020B0604020202020204" pitchFamily="34" charset="0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Rule-Based Fallback (Simple heuristics)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4014BF-7691-A8C2-0419-8E59E5757583}"/>
              </a:ext>
            </a:extLst>
          </p:cNvPr>
          <p:cNvSpPr txBox="1"/>
          <p:nvPr/>
        </p:nvSpPr>
        <p:spPr>
          <a:xfrm>
            <a:off x="26081" y="1703081"/>
            <a:ext cx="2300377" cy="1885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5235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047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0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093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617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140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66643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1878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latin typeface="Source Sans Pro"/>
                <a:ea typeface="Source Sans Pro"/>
              </a:rPr>
              <a:t>System Design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07F44C-882C-C3DA-BD04-F10BF554AD70}"/>
              </a:ext>
            </a:extLst>
          </p:cNvPr>
          <p:cNvSpPr txBox="1"/>
          <p:nvPr/>
        </p:nvSpPr>
        <p:spPr>
          <a:xfrm>
            <a:off x="26081" y="3463100"/>
            <a:ext cx="2569221" cy="34047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defTabSz="19047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The full pipeline (ingredient parsing → classification → gluten detection → semantic substitution → recipe rewriting) functions reliably end-to-end, smoothly handling different recipe text formats.</a:t>
            </a:r>
            <a:endParaRPr lang="en-US" dirty="0">
              <a:latin typeface="Aptos" panose="020B0004020202020204"/>
              <a:ea typeface="Source Sans Pro"/>
              <a:cs typeface="Courier New"/>
            </a:endParaRPr>
          </a:p>
          <a:p>
            <a:pPr marL="171450" indent="-171450" defTabSz="19047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A simple </a:t>
            </a:r>
            <a:r>
              <a:rPr lang="en-US" sz="1000" dirty="0" err="1">
                <a:latin typeface="Source Sans Pro"/>
                <a:ea typeface="Source Sans Pro"/>
                <a:cs typeface="Courier New"/>
              </a:rPr>
              <a:t>Streamlit</a:t>
            </a:r>
            <a:r>
              <a:rPr lang="en-US" sz="1000" dirty="0">
                <a:latin typeface="Source Sans Pro"/>
                <a:ea typeface="Source Sans Pro"/>
                <a:cs typeface="Courier New"/>
              </a:rPr>
              <a:t>-based web UI demonstrates the system. Users input recipe URL or text and then the substituted ingredients with the gluten-free recipe is displayed. (Figure 1)</a:t>
            </a:r>
            <a:endParaRPr lang="en-US" dirty="0">
              <a:latin typeface="Aptos" panose="020B0004020202020204"/>
              <a:ea typeface="Source Sans Pro"/>
              <a:cs typeface="Courier New"/>
            </a:endParaRPr>
          </a:p>
          <a:p>
            <a:pPr marL="171450" indent="-171450" defTabSz="19047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The Top-20 ingredient frequency plots show gluten-dense items drop while gluten-free replacements rise in the post-transformation distribution. (Figures 2 &amp; 3)</a:t>
            </a:r>
            <a:endParaRPr lang="en-US" dirty="0">
              <a:latin typeface="Aptos"/>
              <a:ea typeface="Source Sans Pro"/>
              <a:cs typeface="Courier New"/>
            </a:endParaRPr>
          </a:p>
          <a:p>
            <a:pPr marL="171450" indent="-171450" defTabSz="19047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The confusion matrix reveals strong classification accuracy for common ingredient categories. (Figure 4)</a:t>
            </a:r>
            <a:endParaRPr lang="en-US">
              <a:latin typeface="Aptos"/>
              <a:ea typeface="Source Sans Pro"/>
              <a:cs typeface="Courier New"/>
            </a:endParaRPr>
          </a:p>
          <a:p>
            <a:pPr marL="171450" indent="-171450" defTabSz="190470">
              <a:buFont typeface="Arial"/>
              <a:buChar char="•"/>
            </a:pPr>
            <a:r>
              <a:rPr lang="en-US" sz="1000" dirty="0">
                <a:latin typeface="Source Sans Pro"/>
                <a:ea typeface="Source Sans Pro"/>
                <a:cs typeface="Courier New"/>
              </a:rPr>
              <a:t>Training curves across dataset versions show a decrease in training loss as more labeled ingredient data is added, indicating improved representation learning and model generalization. (Figure 5)</a:t>
            </a:r>
            <a:endParaRPr lang="en-US" dirty="0">
              <a:latin typeface="Aptos"/>
              <a:ea typeface="Source Sans Pro"/>
              <a:cs typeface="Courier New"/>
            </a:endParaRPr>
          </a:p>
        </p:txBody>
      </p:sp>
      <p:pic>
        <p:nvPicPr>
          <p:cNvPr id="34" name="Picture 33" descr="A graph of food ingredients&#10;&#10;AI-generated content may be incorrect.">
            <a:extLst>
              <a:ext uri="{FF2B5EF4-FFF2-40B4-BE49-F238E27FC236}">
                <a16:creationId xmlns:a16="http://schemas.microsoft.com/office/drawing/2014/main" id="{5E7923CC-1F9F-792E-46FF-46813E919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649" y="1713864"/>
            <a:ext cx="2508914" cy="1548787"/>
          </a:xfrm>
          <a:prstGeom prst="rect">
            <a:avLst/>
          </a:prstGeom>
        </p:spPr>
      </p:pic>
      <p:pic>
        <p:nvPicPr>
          <p:cNvPr id="36" name="Picture 35" descr="A graph of a bar graph&#10;&#10;AI-generated content may be incorrect.">
            <a:extLst>
              <a:ext uri="{FF2B5EF4-FFF2-40B4-BE49-F238E27FC236}">
                <a16:creationId xmlns:a16="http://schemas.microsoft.com/office/drawing/2014/main" id="{DE318156-4D60-C3BF-5345-B3A26E318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655" y="104544"/>
            <a:ext cx="2498130" cy="1502218"/>
          </a:xfrm>
          <a:prstGeom prst="rect">
            <a:avLst/>
          </a:prstGeom>
        </p:spPr>
      </p:pic>
      <p:pic>
        <p:nvPicPr>
          <p:cNvPr id="37" name="Picture 36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F4424BDC-F01F-132D-E13D-8E17ACC0D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985" y="5277562"/>
            <a:ext cx="2002333" cy="1546477"/>
          </a:xfrm>
          <a:prstGeom prst="rect">
            <a:avLst/>
          </a:prstGeom>
        </p:spPr>
      </p:pic>
      <p:pic>
        <p:nvPicPr>
          <p:cNvPr id="38" name="Picture 37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C902B2C7-D8E5-299B-B67F-B35B66DD1C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6531" y="3377100"/>
            <a:ext cx="2011992" cy="17882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1EEBE7-223C-0B6D-4C78-F0A36BC346E7}"/>
              </a:ext>
            </a:extLst>
          </p:cNvPr>
          <p:cNvSpPr txBox="1"/>
          <p:nvPr/>
        </p:nvSpPr>
        <p:spPr>
          <a:xfrm>
            <a:off x="6635563" y="-7225"/>
            <a:ext cx="1304839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/>
              <a:t>Figure 2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C9158D-6141-6F2A-6EFA-6F8E86C89098}"/>
              </a:ext>
            </a:extLst>
          </p:cNvPr>
          <p:cNvSpPr txBox="1"/>
          <p:nvPr/>
        </p:nvSpPr>
        <p:spPr>
          <a:xfrm>
            <a:off x="6635563" y="1615340"/>
            <a:ext cx="1304839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/>
              <a:t>Figure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8B4655-AF1F-65BD-01B1-7AB4F1CF9D4C}"/>
              </a:ext>
            </a:extLst>
          </p:cNvPr>
          <p:cNvSpPr txBox="1"/>
          <p:nvPr/>
        </p:nvSpPr>
        <p:spPr>
          <a:xfrm>
            <a:off x="6635563" y="3370067"/>
            <a:ext cx="1304839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/>
              <a:t>Figure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AFB15E-9BAD-843F-DA73-BA8D8F8F0E66}"/>
              </a:ext>
            </a:extLst>
          </p:cNvPr>
          <p:cNvSpPr txBox="1"/>
          <p:nvPr/>
        </p:nvSpPr>
        <p:spPr>
          <a:xfrm>
            <a:off x="6635563" y="5188063"/>
            <a:ext cx="11531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/>
              <a:t>Figure 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D1AB4C-D9FF-DE2A-C167-D54A1F9AA76D}"/>
              </a:ext>
            </a:extLst>
          </p:cNvPr>
          <p:cNvSpPr txBox="1"/>
          <p:nvPr/>
        </p:nvSpPr>
        <p:spPr>
          <a:xfrm>
            <a:off x="26081" y="3331604"/>
            <a:ext cx="2300377" cy="1885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9050" tIns="9525" rIns="19050" bIns="952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5235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0470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0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093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6174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1409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66643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1878" algn="l" defTabSz="190470" rtl="0" eaLnBrk="1" latinLnBrk="0" hangingPunct="1">
              <a:defRPr sz="3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latin typeface="Source Sans Pro"/>
                <a:ea typeface="Source Sans Pro"/>
              </a:rPr>
              <a:t>Results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E658C2-6068-2B76-A966-795570DC53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0027" y="4148391"/>
            <a:ext cx="3874063" cy="181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37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562</Words>
  <Application>Microsoft Office PowerPoint</Application>
  <PresentationFormat>On-screen Show (4:3)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Source Sans Pro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Zachary Ebert</dc:creator>
  <cp:lastModifiedBy>Zachary Noah Ebert</cp:lastModifiedBy>
  <cp:revision>578</cp:revision>
  <cp:lastPrinted>2025-11-26T04:03:51Z</cp:lastPrinted>
  <dcterms:created xsi:type="dcterms:W3CDTF">2025-11-25T20:20:34Z</dcterms:created>
  <dcterms:modified xsi:type="dcterms:W3CDTF">2025-11-26T01:17:52Z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2025-11-26T01:17:38Z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82a27e11-da90-4599-8860-09588fd53053</vt:lpwstr>
  </property>
  <property fmtid="{D5CDD505-2E9C-101B-9397-08002B2CF9AE}" pid="8" name="MSIP_Label_4044bd30-2ed7-4c9d-9d12-46200872a97b_ContentBits">
    <vt:lpwstr>0</vt:lpwstr>
  </property>
  <property fmtid="{D5CDD505-2E9C-101B-9397-08002B2CF9AE}" pid="9" name="MSIP_Label_4044bd30-2ed7-4c9d-9d12-46200872a97b_Tag">
    <vt:lpwstr>10, 3, 0, 1</vt:lpwstr>
  </property>
</Properties>
</file>