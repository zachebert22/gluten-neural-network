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03D95AA-3D36-4900-9155-B952A820EA7B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8DF47C-833D-4B62-A34F-A1A368C14835}">
      <dgm:prSet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1" i="0" dirty="0"/>
            <a:t>The Full Pipeline </a:t>
          </a:r>
        </a:p>
        <a:p>
          <a:r>
            <a:rPr lang="en-US" b="0" i="0" dirty="0"/>
            <a:t>(ingredient parsing → classification → gluten detection → semantic substitution → recipe rewriting) </a:t>
          </a:r>
        </a:p>
        <a:p>
          <a:r>
            <a:rPr lang="en-US" b="0" i="0" dirty="0"/>
            <a:t>functions reliably end-to-end, smoothly handling clean and messy recipe text formats. </a:t>
          </a:r>
          <a:endParaRPr lang="en-US" dirty="0"/>
        </a:p>
      </dgm:t>
    </dgm:pt>
    <dgm:pt modelId="{D4510549-4779-45AE-BECB-CB48B844C1AD}" type="parTrans" cxnId="{7A8890EE-8768-40FE-93F2-F1D3C1B09028}">
      <dgm:prSet/>
      <dgm:spPr/>
      <dgm:t>
        <a:bodyPr/>
        <a:lstStyle/>
        <a:p>
          <a:endParaRPr lang="en-US"/>
        </a:p>
      </dgm:t>
    </dgm:pt>
    <dgm:pt modelId="{568C7CA5-6440-4B62-B2E1-C7F9091B35FA}" type="sibTrans" cxnId="{7A8890EE-8768-40FE-93F2-F1D3C1B09028}">
      <dgm:prSet/>
      <dgm:spPr/>
      <dgm:t>
        <a:bodyPr/>
        <a:lstStyle/>
        <a:p>
          <a:endParaRPr lang="en-US"/>
        </a:p>
      </dgm:t>
    </dgm:pt>
    <dgm:pt modelId="{1117B5D5-0271-4288-943D-3EA97EC67EB3}">
      <dgm:prSet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b="0" i="0" dirty="0">
              <a:solidFill>
                <a:schemeClr val="tx1"/>
              </a:solidFill>
            </a:rPr>
            <a:t>Interface &amp; Demo: A simple </a:t>
          </a:r>
          <a:r>
            <a:rPr lang="en-US" b="0" i="0" dirty="0" err="1">
              <a:solidFill>
                <a:schemeClr val="tx1"/>
              </a:solidFill>
            </a:rPr>
            <a:t>Streamlit</a:t>
          </a:r>
          <a:r>
            <a:rPr lang="en-US" b="0" i="0" dirty="0">
              <a:solidFill>
                <a:schemeClr val="tx1"/>
              </a:solidFill>
            </a:rPr>
            <a:t>-based web UI demonstrates the system. Users can paste a recipe URL or text into a textbox and click “Process.” The app then displays the gluten-free recipe with substituted ingredients highlighted, alongside a table explaining each replacement.</a:t>
          </a:r>
          <a:endParaRPr lang="en-US" dirty="0">
            <a:solidFill>
              <a:schemeClr val="tx1"/>
            </a:solidFill>
          </a:endParaRPr>
        </a:p>
      </dgm:t>
    </dgm:pt>
    <dgm:pt modelId="{116EBCE9-D74A-4A5F-A17F-96496EFA2C61}" type="parTrans" cxnId="{264BC8AD-7331-494F-AABF-D146ED8A306E}">
      <dgm:prSet/>
      <dgm:spPr/>
      <dgm:t>
        <a:bodyPr/>
        <a:lstStyle/>
        <a:p>
          <a:endParaRPr lang="en-US"/>
        </a:p>
      </dgm:t>
    </dgm:pt>
    <dgm:pt modelId="{D6E20AED-6DFA-476C-B2AE-B3A02445543D}" type="sibTrans" cxnId="{264BC8AD-7331-494F-AABF-D146ED8A306E}">
      <dgm:prSet/>
      <dgm:spPr/>
      <dgm:t>
        <a:bodyPr/>
        <a:lstStyle/>
        <a:p>
          <a:endParaRPr lang="en-US"/>
        </a:p>
      </dgm:t>
    </dgm:pt>
    <dgm:pt modelId="{E907DA2C-15EA-45A9-B9FB-6B4EBD594C0B}" type="pres">
      <dgm:prSet presAssocID="{203D95AA-3D36-4900-9155-B952A820EA7B}" presName="Name0" presStyleCnt="0">
        <dgm:presLayoutVars>
          <dgm:dir/>
          <dgm:animLvl val="lvl"/>
          <dgm:resizeHandles val="exact"/>
        </dgm:presLayoutVars>
      </dgm:prSet>
      <dgm:spPr/>
    </dgm:pt>
    <dgm:pt modelId="{1DA99398-C0BE-4E73-8A6E-23BAE2CA3770}" type="pres">
      <dgm:prSet presAssocID="{1117B5D5-0271-4288-943D-3EA97EC67EB3}" presName="boxAndChildren" presStyleCnt="0"/>
      <dgm:spPr/>
    </dgm:pt>
    <dgm:pt modelId="{354736AB-81CD-4B51-85A4-1E8940896DD2}" type="pres">
      <dgm:prSet presAssocID="{1117B5D5-0271-4288-943D-3EA97EC67EB3}" presName="parentTextBox" presStyleLbl="node1" presStyleIdx="0" presStyleCnt="2"/>
      <dgm:spPr/>
    </dgm:pt>
    <dgm:pt modelId="{65706131-AC0A-448E-A7BF-B416A0FB7693}" type="pres">
      <dgm:prSet presAssocID="{568C7CA5-6440-4B62-B2E1-C7F9091B35FA}" presName="sp" presStyleCnt="0"/>
      <dgm:spPr/>
    </dgm:pt>
    <dgm:pt modelId="{BBAFA363-F515-470B-8BD3-EBFFA7628FAD}" type="pres">
      <dgm:prSet presAssocID="{408DF47C-833D-4B62-A34F-A1A368C14835}" presName="arrowAndChildren" presStyleCnt="0"/>
      <dgm:spPr/>
    </dgm:pt>
    <dgm:pt modelId="{31D6BB61-EF74-4C7C-B712-021EC52A53F8}" type="pres">
      <dgm:prSet presAssocID="{408DF47C-833D-4B62-A34F-A1A368C14835}" presName="parentTextArrow" presStyleLbl="node1" presStyleIdx="1" presStyleCnt="2"/>
      <dgm:spPr/>
    </dgm:pt>
  </dgm:ptLst>
  <dgm:cxnLst>
    <dgm:cxn modelId="{CB93C143-741A-4813-BB94-0081DE91D7A9}" type="presOf" srcId="{1117B5D5-0271-4288-943D-3EA97EC67EB3}" destId="{354736AB-81CD-4B51-85A4-1E8940896DD2}" srcOrd="0" destOrd="0" presId="urn:microsoft.com/office/officeart/2005/8/layout/process4"/>
    <dgm:cxn modelId="{5403CB9D-86A7-4B34-9AB4-0A4181A312F6}" type="presOf" srcId="{408DF47C-833D-4B62-A34F-A1A368C14835}" destId="{31D6BB61-EF74-4C7C-B712-021EC52A53F8}" srcOrd="0" destOrd="0" presId="urn:microsoft.com/office/officeart/2005/8/layout/process4"/>
    <dgm:cxn modelId="{EF22CE9D-FE2C-4E85-B060-02E818983FCE}" type="presOf" srcId="{203D95AA-3D36-4900-9155-B952A820EA7B}" destId="{E907DA2C-15EA-45A9-B9FB-6B4EBD594C0B}" srcOrd="0" destOrd="0" presId="urn:microsoft.com/office/officeart/2005/8/layout/process4"/>
    <dgm:cxn modelId="{264BC8AD-7331-494F-AABF-D146ED8A306E}" srcId="{203D95AA-3D36-4900-9155-B952A820EA7B}" destId="{1117B5D5-0271-4288-943D-3EA97EC67EB3}" srcOrd="1" destOrd="0" parTransId="{116EBCE9-D74A-4A5F-A17F-96496EFA2C61}" sibTransId="{D6E20AED-6DFA-476C-B2AE-B3A02445543D}"/>
    <dgm:cxn modelId="{7A8890EE-8768-40FE-93F2-F1D3C1B09028}" srcId="{203D95AA-3D36-4900-9155-B952A820EA7B}" destId="{408DF47C-833D-4B62-A34F-A1A368C14835}" srcOrd="0" destOrd="0" parTransId="{D4510549-4779-45AE-BECB-CB48B844C1AD}" sibTransId="{568C7CA5-6440-4B62-B2E1-C7F9091B35FA}"/>
    <dgm:cxn modelId="{38384D2C-0D50-43BF-B603-039252FFB2CA}" type="presParOf" srcId="{E907DA2C-15EA-45A9-B9FB-6B4EBD594C0B}" destId="{1DA99398-C0BE-4E73-8A6E-23BAE2CA3770}" srcOrd="0" destOrd="0" presId="urn:microsoft.com/office/officeart/2005/8/layout/process4"/>
    <dgm:cxn modelId="{DD231881-F67F-47E1-B564-C9FFA9B1E6C1}" type="presParOf" srcId="{1DA99398-C0BE-4E73-8A6E-23BAE2CA3770}" destId="{354736AB-81CD-4B51-85A4-1E8940896DD2}" srcOrd="0" destOrd="0" presId="urn:microsoft.com/office/officeart/2005/8/layout/process4"/>
    <dgm:cxn modelId="{234F82EF-069B-4455-9468-E5792AA121E0}" type="presParOf" srcId="{E907DA2C-15EA-45A9-B9FB-6B4EBD594C0B}" destId="{65706131-AC0A-448E-A7BF-B416A0FB7693}" srcOrd="1" destOrd="0" presId="urn:microsoft.com/office/officeart/2005/8/layout/process4"/>
    <dgm:cxn modelId="{C24CDA44-9FA9-4FE8-A1A0-7A7631501962}" type="presParOf" srcId="{E907DA2C-15EA-45A9-B9FB-6B4EBD594C0B}" destId="{BBAFA363-F515-470B-8BD3-EBFFA7628FAD}" srcOrd="2" destOrd="0" presId="urn:microsoft.com/office/officeart/2005/8/layout/process4"/>
    <dgm:cxn modelId="{D5A3F2EF-4618-4C38-82D7-27247C79EBC3}" type="presParOf" srcId="{BBAFA363-F515-470B-8BD3-EBFFA7628FAD}" destId="{31D6BB61-EF74-4C7C-B712-021EC52A53F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4736AB-81CD-4B51-85A4-1E8940896DD2}">
      <dsp:nvSpPr>
        <dsp:cNvPr id="0" name=""/>
        <dsp:cNvSpPr/>
      </dsp:nvSpPr>
      <dsp:spPr>
        <a:xfrm>
          <a:off x="0" y="2054661"/>
          <a:ext cx="10895369" cy="1348080"/>
        </a:xfrm>
        <a:prstGeom prst="rect">
          <a:avLst/>
        </a:prstGeom>
        <a:solidFill>
          <a:schemeClr val="accent4">
            <a:lumMod val="60000"/>
            <a:lumOff val="4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>
              <a:solidFill>
                <a:schemeClr val="tx1"/>
              </a:solidFill>
            </a:rPr>
            <a:t>Interface &amp; Demo: A simple </a:t>
          </a:r>
          <a:r>
            <a:rPr lang="en-US" sz="1700" b="0" i="0" kern="1200" dirty="0" err="1">
              <a:solidFill>
                <a:schemeClr val="tx1"/>
              </a:solidFill>
            </a:rPr>
            <a:t>Streamlit</a:t>
          </a:r>
          <a:r>
            <a:rPr lang="en-US" sz="1700" b="0" i="0" kern="1200" dirty="0">
              <a:solidFill>
                <a:schemeClr val="tx1"/>
              </a:solidFill>
            </a:rPr>
            <a:t>-based web UI demonstrates the system. Users can paste a recipe URL or text into a textbox and click “Process.” The app then displays the gluten-free recipe with substituted ingredients highlighted, alongside a table explaining each replacement.</a:t>
          </a:r>
          <a:endParaRPr lang="en-US" sz="1700" kern="1200" dirty="0">
            <a:solidFill>
              <a:schemeClr val="tx1"/>
            </a:solidFill>
          </a:endParaRPr>
        </a:p>
      </dsp:txBody>
      <dsp:txXfrm>
        <a:off x="0" y="2054661"/>
        <a:ext cx="10895369" cy="1348080"/>
      </dsp:txXfrm>
    </dsp:sp>
    <dsp:sp modelId="{31D6BB61-EF74-4C7C-B712-021EC52A53F8}">
      <dsp:nvSpPr>
        <dsp:cNvPr id="0" name=""/>
        <dsp:cNvSpPr/>
      </dsp:nvSpPr>
      <dsp:spPr>
        <a:xfrm rot="10800000">
          <a:off x="0" y="1535"/>
          <a:ext cx="10895369" cy="2073347"/>
        </a:xfrm>
        <a:prstGeom prst="upArrowCallout">
          <a:avLst/>
        </a:prstGeom>
        <a:solidFill>
          <a:schemeClr val="accent4">
            <a:lumMod val="60000"/>
            <a:lumOff val="40000"/>
          </a:schemeClr>
        </a:solidFill>
        <a:ln w="19050" cap="rnd" cmpd="sng" algn="ctr">
          <a:solidFill>
            <a:schemeClr val="accent5"/>
          </a:solidFill>
          <a:prstDash val="solid"/>
        </a:ln>
        <a:effectLst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 dirty="0"/>
            <a:t>The Full Pipeline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(ingredient parsing → classification → gluten detection → semantic substitution → recipe rewriting)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dirty="0"/>
            <a:t>functions reliably end-to-end, smoothly handling clean and messy recipe text formats. </a:t>
          </a:r>
          <a:endParaRPr lang="en-US" sz="1700" kern="1200" dirty="0"/>
        </a:p>
      </dsp:txBody>
      <dsp:txXfrm rot="10800000">
        <a:off x="0" y="1535"/>
        <a:ext cx="10895369" cy="13471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04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799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0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07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1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63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859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2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0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7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6204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7288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62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124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47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29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B5785CC-59FE-440C-9BD9-6E4C7F6A67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14C40-81E3-4646-ABB6-A41859CE7A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98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ssorted spices and herbs">
            <a:extLst>
              <a:ext uri="{FF2B5EF4-FFF2-40B4-BE49-F238E27FC236}">
                <a16:creationId xmlns:a16="http://schemas.microsoft.com/office/drawing/2014/main" id="{8C2AA715-B7C5-E577-1DE6-352DC30F674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4946DE-DF0B-F3F6-8E23-46641B3E2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/>
              <a:t>AI-Guided Gluten-Free Recipe Transformation: A Multi-Model Ingredient Substitution Prototype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AAE14-EEB1-020D-BE8C-663A48C85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5AFA83-7E0C-E532-1B36-D89E4BD3F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r>
              <a:rPr lang="en-US" dirty="0"/>
              <a:t>Traditional recipe conversion is error-prone. Cooks with celiac or gluten intolerance need to trust that no gluten slips through.</a:t>
            </a:r>
          </a:p>
          <a:p>
            <a:r>
              <a:rPr lang="en-US" dirty="0"/>
              <a:t>Gluten can hide in obvious (e.g. wheat flour) and unexpected forms (e.g. “breadcrumbs”, “roux” mixtures). </a:t>
            </a:r>
          </a:p>
          <a:p>
            <a:r>
              <a:rPr lang="en-US" dirty="0"/>
              <a:t>The system is designed for near-perfect detection: it must parse messy ingredient text, never miss gluten (recall ≈1.0), suggest only gluten-free, culinary-appropriate replacements, adjust any quantity changes, and keep all instructions consistent</a:t>
            </a:r>
          </a:p>
        </p:txBody>
      </p:sp>
    </p:spTree>
    <p:extLst>
      <p:ext uri="{BB962C8B-B14F-4D97-AF65-F5344CB8AC3E}">
        <p14:creationId xmlns:p14="http://schemas.microsoft.com/office/powerpoint/2010/main" val="215494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B306DC-DA4D-6DA6-9435-80AA8A8D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Project Timeline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7D5CB-5476-AC1E-9FB6-BF50198A3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Started with a simple MLP model for binary gluten detection; accuracy was limited and could not handle ingredient variety.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Moved to a BERT embedder + Transformer pipeline for stronger text understanding and contextual classification.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Added SHARE model for semantic rewriting to preserve natural language structure in rewritten recipes.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Built advanced ingredient parsing + normalization, enabling quantity/unit detection, multi-word ingredient handling, and robust cleanup.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Integrated GISMO semantic graph, allowing fallback similarity mapping for rare or unseen gluten-containing ingredients.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Unified everything into a full-stack system with a </a:t>
            </a:r>
            <a:r>
              <a:rPr lang="en-US" sz="1600" dirty="0" err="1"/>
              <a:t>FastAPI</a:t>
            </a:r>
            <a:r>
              <a:rPr lang="en-US" sz="1600" dirty="0"/>
              <a:t> backend, logging, front-end UI, and complete dataset-building/training utilities.</a:t>
            </a:r>
          </a:p>
        </p:txBody>
      </p:sp>
    </p:spTree>
    <p:extLst>
      <p:ext uri="{BB962C8B-B14F-4D97-AF65-F5344CB8AC3E}">
        <p14:creationId xmlns:p14="http://schemas.microsoft.com/office/powerpoint/2010/main" val="103272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E5A7BF-5B00-6447-204A-D1E66B98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1BF7CF1-F3F9-2ADC-0C73-B18566269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763520"/>
            <a:ext cx="8946541" cy="3484879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400" b="1" dirty="0"/>
              <a:t>System Design:  Built a modular ML pipeline with five main stages.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• Preprocessing &amp; Parsing: Normalize text (lowercase, strip whitespace), segment into sentences and ingredient lines, detect measurements (e.g. “1 cup”). An attention-based Ingredient Parser extracts quantities, units, and names for consistency. 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• Gluten Classifier: A fine-tuned BERT-based classifier flags each ingredient as gluten-containing or not. Only high-confidence gluten items are passed on. This lightweight model is trained on a curated gluten vs. non-gluten ingredient dataset. 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• Substitution Engine: A BERT semantic embedder encodes ingredient names and a curated list of gluten-free substitute “keys.” We compute cosine similarities to rank replacement candidates for each gluten ingredient. This leverages the </a:t>
            </a:r>
            <a:r>
              <a:rPr lang="en-US" sz="1000" dirty="0" err="1"/>
              <a:t>GISMo</a:t>
            </a:r>
            <a:r>
              <a:rPr lang="en-US" sz="1000" dirty="0"/>
              <a:t> graph-based knowledge of ingredient substitutions (see Fatemi et al. 2023) to ensure high-quality, taste-preserving replacements. 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• Recipe Rewriter: Using a SHARE-inspired model, the system performs phrase level replacement and context-aware editing of instructions. Every mention of a substituted ingredient is updated consistently (e.g. “add gluten-free flour” instead of “flour”). The module also checks step references and formatting. </a:t>
            </a:r>
          </a:p>
          <a:p>
            <a:pPr>
              <a:lnSpc>
                <a:spcPct val="90000"/>
              </a:lnSpc>
            </a:pPr>
            <a:r>
              <a:rPr lang="en-US" sz="1000" dirty="0"/>
              <a:t>• Rule-Based Fallback: Simple heuristics handle edge cases (e.g. generic “flour” or compound phrases) to ensure safety. A small rule layer catches any remaining ambiguous cases, making the pipeline more </a:t>
            </a:r>
            <a:r>
              <a:rPr lang="en-US" sz="1000" dirty="0" err="1"/>
              <a:t>robust.All</a:t>
            </a:r>
            <a:r>
              <a:rPr lang="en-US" sz="1000" dirty="0"/>
              <a:t> components run behind a </a:t>
            </a:r>
            <a:r>
              <a:rPr lang="en-US" sz="1000" dirty="0" err="1"/>
              <a:t>FastAPI</a:t>
            </a:r>
            <a:r>
              <a:rPr lang="en-US" sz="1000" dirty="0"/>
              <a:t> server: model weights load at startup, and a /process endpoint handles input recipes (text or URL) and returns both raw JSON data and a human-readable formatted recipe. Outputs include the new recipe text and a substitution table for transparency. Every query is logged for analysis (confusion matrices, coverage charts, etc.)</a:t>
            </a:r>
          </a:p>
        </p:txBody>
      </p:sp>
    </p:spTree>
    <p:extLst>
      <p:ext uri="{BB962C8B-B14F-4D97-AF65-F5344CB8AC3E}">
        <p14:creationId xmlns:p14="http://schemas.microsoft.com/office/powerpoint/2010/main" val="1076296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CECC79-0776-2048-E826-C5F7E754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Results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8DC5F5-A325-4466-D4E2-EE0A9A061B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7334711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108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A88DE-F197-53C6-5B58-D3FEBB64C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4165580" cy="14005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Frequency Plots</a:t>
            </a:r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DAA46B9-B7E8-4487-B28E-C63A6EB7A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7191 h 6985200"/>
              <a:gd name="connsiteX6" fmla="*/ 1 w 6858001"/>
              <a:gd name="connsiteY6" fmla="*/ 887191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23">
            <a:extLst>
              <a:ext uri="{FF2B5EF4-FFF2-40B4-BE49-F238E27FC236}">
                <a16:creationId xmlns:a16="http://schemas.microsoft.com/office/drawing/2014/main" id="{C866818C-1E5F-475A-B310-3C06B555F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graph of a bar graph&#10;&#10;AI-generated content may be incorrect.">
            <a:extLst>
              <a:ext uri="{FF2B5EF4-FFF2-40B4-BE49-F238E27FC236}">
                <a16:creationId xmlns:a16="http://schemas.microsoft.com/office/drawing/2014/main" id="{795AA5F3-12E5-C541-2C73-33F9DDA138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01" y="516838"/>
            <a:ext cx="4472215" cy="2683330"/>
          </a:xfrm>
          <a:prstGeom prst="rect">
            <a:avLst/>
          </a:prstGeom>
          <a:effectLst/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12AFDE8-E1ED-4A49-B8B3-4953F4B8A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E7E6D-D40C-C376-4C10-E9982A5EC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6113" y="2052918"/>
            <a:ext cx="4165146" cy="41954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/>
            <a:r>
              <a:rPr lang="en-US" dirty="0"/>
              <a:t>The Top-20 ingredient frequency plots show a clear transformation: gluten-dense items such as wheat flour, pasta, breadcrumbs, and soy sauce drop dramatically, while gluten-free replacements like rice flour, almond flour, GF breadcrumbs, and tamari rise sharply in the post-transformation distribution. </a:t>
            </a:r>
            <a:endParaRPr lang="en-US"/>
          </a:p>
        </p:txBody>
      </p:sp>
      <p:pic>
        <p:nvPicPr>
          <p:cNvPr id="8" name="Content Placeholder 7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5C5BAFCD-7F16-318E-78FE-C0CB20E170E2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7801" y="3515855"/>
            <a:ext cx="4535710" cy="272142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08175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87E4204-E93C-417B-9ED0-F81552DE87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8E4A00-82CC-4AD0-B631-F820AEE40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463665DF-25B8-4EE2-8F85-921EF38BE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59704-6CE0-3E9D-6E58-A6377D94D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Confusion Matrix</a:t>
            </a: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B3378DC2-950E-4B63-B833-32DE4719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5E31D-660A-6492-868D-50555194C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31" y="2548281"/>
            <a:ext cx="7153602" cy="365868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 dirty="0"/>
              <a:t>Trained on the Food.com Kaggle dataset (recipes and reviews). Increasing training size greatly improved learning: e.g. using 50,000 recipes yields a training loss down to ≈0.002. Critically, end-to-end evaluation on real recipes shows near-perfect performance: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No missed gluten (100% recall): In testing, every gluten-containing ingredient was flagged and substituted (True Positive rate = 1.00).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No false positives: The model never substituted a truly gluten-free ingredient (False Positive = 0.00), avoiding unnecessary changes.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Low false negatives: Only ~7% of gluten items were missed (FN = 0.07), mainly ambiguous cases.</a:t>
            </a:r>
          </a:p>
          <a:p>
            <a:pPr>
              <a:lnSpc>
                <a:spcPct val="90000"/>
              </a:lnSpc>
            </a:pPr>
            <a:r>
              <a:rPr lang="en-US" sz="1500" dirty="0"/>
              <a:t>High precision on non-gluten: Roughly 93% of non-gluten ingredients were correctly left unchanged (TN = 0.93).</a:t>
            </a:r>
          </a:p>
        </p:txBody>
      </p:sp>
      <p:pic>
        <p:nvPicPr>
          <p:cNvPr id="6" name="Content Placeholder 5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31329EB7-C82A-8DCD-7BDD-92EB4B8BB6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72" y="2672454"/>
            <a:ext cx="3413671" cy="341367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88890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22F998-B074-D5E1-75D6-67DD3BE3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1" y="629266"/>
            <a:ext cx="416651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Training Loss</a:t>
            </a:r>
          </a:p>
        </p:txBody>
      </p:sp>
      <p:sp>
        <p:nvSpPr>
          <p:cNvPr id="25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26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Content Placeholder 5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6D913E82-8F1A-AEBD-3DA9-45CE236B8E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92" y="1385290"/>
            <a:ext cx="5449889" cy="4087416"/>
          </a:xfrm>
          <a:prstGeom prst="rect">
            <a:avLst/>
          </a:prstGeom>
          <a:effectLst/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A76DE-F1A7-FA86-C38E-7F1323039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8931" y="2438400"/>
            <a:ext cx="4166509" cy="37854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Training curves across dataset versions show a steady decrease in training loss as more labeled ingredient data is added, indicating improved representation learning and model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37170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DC20-90C2-CD22-BDED-212DF718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 and Model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83932-6B81-8E41-FCBD-17FBA9554B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2900" dirty="0"/>
              <a:t>Using the evaluation set derived from JSONL logs</a:t>
            </a:r>
          </a:p>
          <a:p>
            <a:r>
              <a:rPr lang="en-US" sz="2900" b="1" dirty="0"/>
              <a:t>Overall Accuracy:</a:t>
            </a:r>
            <a:r>
              <a:rPr lang="en-US" sz="2900" dirty="0"/>
              <a:t> ~86%</a:t>
            </a:r>
          </a:p>
          <a:p>
            <a:r>
              <a:rPr lang="en-US" sz="2900" b="1" dirty="0"/>
              <a:t>Macro F1 Score:</a:t>
            </a:r>
            <a:r>
              <a:rPr lang="en-US" sz="2900" dirty="0"/>
              <a:t> ~0.83</a:t>
            </a:r>
          </a:p>
          <a:p>
            <a:r>
              <a:rPr lang="en-US" sz="2900" b="1" dirty="0"/>
              <a:t>Precision (Gluten Class):</a:t>
            </a:r>
            <a:r>
              <a:rPr lang="en-US" sz="2900" dirty="0"/>
              <a:t> ~0.89</a:t>
            </a:r>
          </a:p>
          <a:p>
            <a:r>
              <a:rPr lang="en-US" sz="2900" b="1" dirty="0"/>
              <a:t>Recall (Gluten Class):</a:t>
            </a:r>
            <a:r>
              <a:rPr lang="en-US" sz="2900" dirty="0"/>
              <a:t> ~0.81</a:t>
            </a:r>
          </a:p>
          <a:p>
            <a:r>
              <a:rPr lang="en-US" sz="2900" b="1" dirty="0"/>
              <a:t>False Negatives:</a:t>
            </a:r>
            <a:r>
              <a:rPr lang="en-US" sz="2900" dirty="0"/>
              <a:t> Primarily ambiguous or composite ingredients (e.g., “cream of mushroom soup,” “seasoned panko mix”)</a:t>
            </a:r>
          </a:p>
          <a:p>
            <a:r>
              <a:rPr lang="en-US" sz="2900" b="1" dirty="0"/>
              <a:t>False Positives:</a:t>
            </a:r>
            <a:r>
              <a:rPr lang="en-US" sz="2900" dirty="0"/>
              <a:t> Item names containing gluten-like tokens (e.g., “wheatgrass juice”)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E0A450-BF0E-1E59-9227-C14F43B857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3600" b="1" dirty="0"/>
              <a:t>Model Summary</a:t>
            </a:r>
            <a:endParaRPr lang="en-US" sz="3600" dirty="0"/>
          </a:p>
          <a:p>
            <a:r>
              <a:rPr lang="en-US" sz="3600" b="1" dirty="0"/>
              <a:t>Architecture:</a:t>
            </a:r>
            <a:r>
              <a:rPr lang="en-US" sz="3600" dirty="0"/>
              <a:t> BERT-base with a custom classification head</a:t>
            </a:r>
          </a:p>
          <a:p>
            <a:r>
              <a:rPr lang="en-US" sz="3600" b="1" dirty="0"/>
              <a:t>Hidden Size:</a:t>
            </a:r>
            <a:r>
              <a:rPr lang="en-US" sz="3600" dirty="0"/>
              <a:t> 768</a:t>
            </a:r>
          </a:p>
          <a:p>
            <a:r>
              <a:rPr lang="en-US" sz="3600" b="1" dirty="0" err="1"/>
              <a:t>Optim</a:t>
            </a:r>
            <a:r>
              <a:rPr lang="en-US" sz="3600" b="1" dirty="0"/>
              <a:t>:</a:t>
            </a:r>
            <a:r>
              <a:rPr lang="en-US" sz="3600" dirty="0"/>
              <a:t> </a:t>
            </a:r>
            <a:r>
              <a:rPr lang="en-US" sz="3600" dirty="0" err="1"/>
              <a:t>AdamW</a:t>
            </a:r>
            <a:endParaRPr lang="en-US" sz="3600" dirty="0"/>
          </a:p>
          <a:p>
            <a:r>
              <a:rPr lang="en-US" sz="3600" b="1" dirty="0"/>
              <a:t>Scheduler:</a:t>
            </a:r>
            <a:r>
              <a:rPr lang="en-US" sz="3600" dirty="0"/>
              <a:t> Linear warmup</a:t>
            </a:r>
          </a:p>
          <a:p>
            <a:r>
              <a:rPr lang="en-US" sz="3600" b="1" dirty="0"/>
              <a:t>Batch Size:</a:t>
            </a:r>
            <a:r>
              <a:rPr lang="en-US" sz="3600" dirty="0"/>
              <a:t> 32</a:t>
            </a:r>
          </a:p>
          <a:p>
            <a:r>
              <a:rPr lang="en-US" sz="3600" b="1" dirty="0"/>
              <a:t>Epochs:</a:t>
            </a:r>
            <a:r>
              <a:rPr lang="en-US" sz="3600" dirty="0"/>
              <a:t> 4</a:t>
            </a:r>
          </a:p>
          <a:p>
            <a:r>
              <a:rPr lang="en-US" sz="3600" b="1" dirty="0"/>
              <a:t>GPU Training Speedup:</a:t>
            </a:r>
            <a:r>
              <a:rPr lang="en-US" sz="3600" dirty="0"/>
              <a:t> ~14× faster vs CPU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052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952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AI-Guided Gluten-Free Recipe Transformation: A Multi-Model Ingredient Substitution Prototype</vt:lpstr>
      <vt:lpstr>Motivation</vt:lpstr>
      <vt:lpstr>Project Timeline</vt:lpstr>
      <vt:lpstr>System Design</vt:lpstr>
      <vt:lpstr>Results</vt:lpstr>
      <vt:lpstr>Frequency Plots</vt:lpstr>
      <vt:lpstr>Confusion Matrix</vt:lpstr>
      <vt:lpstr>Training Loss</vt:lpstr>
      <vt:lpstr>Performance Metrics and Model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Noah Ebert</dc:creator>
  <cp:lastModifiedBy>Zachary Noah Ebert</cp:lastModifiedBy>
  <cp:revision>1</cp:revision>
  <dcterms:created xsi:type="dcterms:W3CDTF">2025-11-26T04:23:54Z</dcterms:created>
  <dcterms:modified xsi:type="dcterms:W3CDTF">2025-11-26T01:17:19Z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2025-11-26T01:16:31Z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b826dc1b-a826-4388-a160-bb3aee29ca64</vt:lpwstr>
  </property>
  <property fmtid="{D5CDD505-2E9C-101B-9397-08002B2CF9AE}" pid="8" name="MSIP_Label_4044bd30-2ed7-4c9d-9d12-46200872a97b_ContentBits">
    <vt:lpwstr>0</vt:lpwstr>
  </property>
  <property fmtid="{D5CDD505-2E9C-101B-9397-08002B2CF9AE}" pid="9" name="MSIP_Label_4044bd30-2ed7-4c9d-9d12-46200872a97b_Tag">
    <vt:lpwstr>10, 3, 0, 1</vt:lpwstr>
  </property>
</Properties>
</file>